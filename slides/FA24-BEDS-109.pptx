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</ns0:sldIdLst>
  <ns0:sldSz cx="12192000" cy="6858000" type="screen4x3"/>
  <ns0:notesSz cx="6858000" cy="9144000"/>
  <ns0:embeddedFontLst>
    <ns0:embeddedFont>
      <ns0:font typeface="Plus Jakarta Sans"/>
      <ns0:bold ns1:id="rIdFont11"/>
      <ns0:regular ns1:id="rIdFont12"/>
    </ns0:embeddedFont>
    <ns0:embeddedFont>
      <ns0:font typeface="Space Grotesk"/>
      <ns0:bold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Font11" Type="http://schemas.openxmlformats.org/officeDocument/2006/relationships/font" Target="fonts/1cbc9a52-8f25-4123-b98e-a0a17725cbef.fntdata" /><ns0:Relationship Id="rIdFont12" Type="http://schemas.openxmlformats.org/officeDocument/2006/relationships/font" Target="fonts/c15bd58a-5856-4b21-b0c8-e8cb25cd17bc.fntdata" /><ns0:Relationship Id="rIdFont13" Type="http://schemas.openxmlformats.org/officeDocument/2006/relationships/font" Target="fonts/d2e9fd89-24b4-4ccc-96fb-c307f8cb710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53350" y="1874043"/>
            <a:ext cx="3714750" cy="3109912"/>
          </a:xfrm>
          <a:prstGeom prst="roundRect">
            <a:avLst>
              <a:gd name="adj" fmla="val 612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3900" y="4240410"/>
            <a:ext cx="6286500" cy="790575"/>
          </a:xfrm>
          <a:prstGeom prst="roundRect">
            <a:avLst>
              <a:gd name="adj" fmla="val 1686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50" y="4288631"/>
            <a:ext cx="3028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900" y="4240410"/>
            <a:ext cx="38100" cy="790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71750" y="4464248"/>
            <a:ext cx="9525" cy="3429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1827014"/>
            <a:ext cx="7858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ECO346 · DATA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150864"/>
            <a:ext cx="6700837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450" i="0" u="none">
                <a:solidFill>
                  <a:srgbClr val="F8FAFC"/>
                </a:solidFill>
                <a:latin typeface="Plus Jakarta Sans"/>
              </a:rPr>
              <a:t>Education Spending and Literacy in Urban Punjab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392685"/>
            <a:ext cx="6381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94A3B8"/>
                </a:solidFill>
                <a:latin typeface="Plus Jakarta Sans"/>
              </a:rPr>
              <a:t>Today I will share key insights from the Pakistan Social and Living Standards Measurement (PSLM) 2019–20 survey.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0" y="2216943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Space Grotesk"/>
              </a:rPr>
              <a:t>MY ASSIGNED VARIANT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0" y="3474243"/>
            <a:ext cx="3124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Calculated as the remainder of 109 divided by 8. All calculations use household survey weights to represent the true population.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0" y="2550318"/>
            <a:ext cx="3975496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Variant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0" y="3036093"/>
            <a:ext cx="37861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Punjab Urban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0" y="4469606"/>
            <a:ext cx="1381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Target Population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39375" y="4469606"/>
            <a:ext cx="1171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Space Grotesk"/>
              </a:rPr>
              <a:t>Ages 10 to 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4430910"/>
            <a:ext cx="1595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Presenter Roll 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621410"/>
            <a:ext cx="1595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Space Grotesk"/>
              </a:rPr>
              <a:t>FA24-BEDS-109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6075" y="4435673"/>
            <a:ext cx="2012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Software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6075" y="4626173"/>
            <a:ext cx="201215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R (ggplot2) &amp;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37394"/>
            <a:ext cx="5353050" cy="399276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1537394"/>
            <a:ext cx="5353050" cy="399276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886450"/>
            <a:ext cx="3530649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0749" y="5886450"/>
            <a:ext cx="3530649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899" y="5886450"/>
            <a:ext cx="3530649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886450"/>
            <a:ext cx="28575" cy="571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30749" y="5886450"/>
            <a:ext cx="28575" cy="571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51899" y="5886450"/>
            <a:ext cx="28575" cy="571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05375" y="1718369"/>
            <a:ext cx="876300" cy="209550"/>
          </a:xfrm>
          <a:prstGeom prst="roundRect">
            <a:avLst>
              <a:gd name="adj" fmla="val 2727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10800" y="1718369"/>
            <a:ext cx="1190625" cy="209550"/>
          </a:xfrm>
          <a:prstGeom prst="roundRect">
            <a:avLst>
              <a:gd name="adj" fmla="val 2727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023169"/>
            <a:ext cx="4991100" cy="2857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2023169"/>
            <a:ext cx="4991100" cy="2857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2023169"/>
            <a:ext cx="4991100" cy="2857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2023169"/>
            <a:ext cx="4991100" cy="2857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0005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Space Grotesk"/>
              </a:rPr>
              <a:t>CHART MAKEOVER (BEFORE &amp; AFTER)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191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Why We Turned the Default Scatterplot into a Trend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000125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Here is how we redesigned R's raw output to tell a clear and accurate 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4975919"/>
            <a:ext cx="5086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Thousands of dots sit directly on top of each other at 0 and 1. We cannot see any trend across 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4975919"/>
            <a:ext cx="5086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We grouped people into 5-year age bands and calculated the weighted literacy percentage for men and women.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6000750"/>
            <a:ext cx="3948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Solved Overplotting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6191250"/>
            <a:ext cx="3948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Averages replace thousands of overlapping dots.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774" y="6000750"/>
            <a:ext cx="3948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Easy to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0774" y="6191250"/>
            <a:ext cx="3948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Line heights allow instant comparison between sexes.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1924" y="6000750"/>
            <a:ext cx="3940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Direct Labels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1924" y="6191250"/>
            <a:ext cx="39400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Labels are right on the lines, so no legend is needed.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575" y="1718369"/>
            <a:ext cx="262532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DC2626"/>
                </a:solidFill>
                <a:latin typeface="Plus Jakarta Sans"/>
              </a:rPr>
              <a:t>1. Before: The Default Plot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1575" y="1746944"/>
            <a:ext cx="819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91C1C"/>
                </a:solidFill>
                <a:latin typeface="Space Grotesk"/>
              </a:rPr>
              <a:t>Hard to 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0325" y="1718369"/>
            <a:ext cx="37004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284C7"/>
                </a:solidFill>
                <a:latin typeface="Plus Jakarta Sans"/>
              </a:rPr>
              <a:t>2. After: Redesigned with Age Bands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1746944"/>
            <a:ext cx="1133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Space Grotesk"/>
              </a:rPr>
              <a:t>Clear &amp; Informative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200775"/>
            <a:ext cx="109728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20077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781323"/>
            <a:ext cx="4191000" cy="1805880"/>
          </a:xfrm>
          <a:prstGeom prst="roundRect">
            <a:avLst>
              <a:gd name="adj" fmla="val 9493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025479"/>
            <a:ext cx="4191000" cy="575071"/>
          </a:xfrm>
          <a:prstGeom prst="roundRect">
            <a:avLst>
              <a:gd name="adj" fmla="val 1987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758654"/>
            <a:ext cx="2028825" cy="1095375"/>
          </a:xfrm>
          <a:prstGeom prst="roundRect">
            <a:avLst>
              <a:gd name="adj" fmla="val 121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71775" y="3758654"/>
            <a:ext cx="2028825" cy="1095375"/>
          </a:xfrm>
          <a:prstGeom prst="roundRect">
            <a:avLst>
              <a:gd name="adj" fmla="val 121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633537"/>
            <a:ext cx="6438900" cy="411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25" y="1833562"/>
            <a:ext cx="6038850" cy="3714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0005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Space Grotesk"/>
              </a:rPr>
              <a:t>MAIN FINDING · THE BIG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91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Younger Women Have Closed the Literacy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00125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While older generations face huge gender gaps, younger youth show remarkable educational equality.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30555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PSLM 2019–20 data · Sample size: 13,873 individuals across 11 age bands.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057548"/>
            <a:ext cx="25598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Space Grotesk"/>
              </a:rPr>
              <a:t>WIDEST GENDER GAP (AGES 60–64)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962423"/>
            <a:ext cx="38100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78350F"/>
                </a:solidFill>
                <a:latin typeface="Plus Jakarta Sans"/>
              </a:rPr>
              <a:t>Among people aged 60 to 64, male literacy is 72.8% while female literacy is only 33.6%.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139779"/>
            <a:ext cx="39814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475569"/>
                </a:solidFill>
                <a:latin typeface="Plus Jakarta Sans"/>
              </a:rPr>
              <a:t>Presenter note: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This chart reflects past progress over decades (cohort differences), not older people losing literacy.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295673"/>
            <a:ext cx="1547812" cy="590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</a:pPr>
            <a:r>
              <a:rPr b="1" sz="4650" i="0" u="none">
                <a:solidFill>
                  <a:srgbClr val="B45309"/>
                </a:solidFill>
                <a:latin typeface="Space Grotesk"/>
              </a:rPr>
              <a:t>39.2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1225" y="2609998"/>
            <a:ext cx="819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2400E"/>
                </a:solidFill>
                <a:latin typeface="Plus Jakarta Sans"/>
              </a:rPr>
              <a:t>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3939629"/>
            <a:ext cx="208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Space Grotesk"/>
              </a:rPr>
              <a:t>YOUTH (AGES 15–19)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4130129"/>
            <a:ext cx="2083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Gap is Gone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75" y="4368254"/>
            <a:ext cx="1762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Women lead at 90.0% compared to men at 87.7%.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2750" y="3939629"/>
            <a:ext cx="208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Space Grotesk"/>
              </a:rPr>
              <a:t>OLDER (AGES 55–59)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2750" y="4130129"/>
            <a:ext cx="2083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22.7 pt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2750" y="4368254"/>
            <a:ext cx="1762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Men are at 68.6% while women are at 45.9%.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91250"/>
            <a:ext cx="109728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575941"/>
            <a:ext cx="6304061" cy="4220467"/>
          </a:xfrm>
          <a:prstGeom prst="roundRect">
            <a:avLst>
              <a:gd name="adj" fmla="val 40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18461" y="1966912"/>
            <a:ext cx="4363938" cy="1924050"/>
          </a:xfrm>
          <a:prstGeom prst="roundRect">
            <a:avLst>
              <a:gd name="adj" fmla="val 79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8461" y="4024312"/>
            <a:ext cx="4363938" cy="1381125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18486" y="4948237"/>
            <a:ext cx="3963888" cy="257175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18486" y="3443287"/>
            <a:ext cx="3963888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18486" y="3443287"/>
            <a:ext cx="39638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233166"/>
            <a:ext cx="5904011" cy="2952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0005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Space Grotesk"/>
              </a:rPr>
              <a:t>DATA REPRODUCIBILITY &amp; SPENDING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91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Spending Is Highly Unequal, and Our Code Matches Exactly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000125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Here are the exact figures required by Questions 2 and 5 of the assignment.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300787"/>
            <a:ext cx="4429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All code and figures run offline from local CSV files. Thank you!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8475" y="6296025"/>
            <a:ext cx="1209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Space Grotesk"/>
              </a:rPr>
              <a:t>FA24-BEDS-109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5262116"/>
            <a:ext cx="5999261" cy="3342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7,080 students analysed. The top 10% spend over Rs 75,000, which is 37.5 times more than the bottom 10%.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1775966"/>
            <a:ext cx="774901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Annual Spending per Student (Histogram)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2004566"/>
            <a:ext cx="738001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Plotted on a log scale with dashed lines at median and top 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8486" y="2166937"/>
            <a:ext cx="47735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Space Grotesk"/>
              </a:rPr>
              <a:t>QUESTION 2 · SPENDING STATISTICS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8486" y="4224337"/>
            <a:ext cx="47735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Space Grotesk"/>
              </a:rPr>
              <a:t>QUESTION 5 · R &amp; PYTHON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736" y="5005387"/>
            <a:ext cx="386863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6534"/>
                </a:solidFill>
                <a:latin typeface="Plus Jakarta Sans"/>
              </a:rPr>
              <a:t>Both scripts yield the exact same table across all 11 age bands.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8486" y="4457700"/>
            <a:ext cx="1352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Women 15–19 (R):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63275" y="4452937"/>
            <a:ext cx="704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Space Grotesk"/>
              </a:rPr>
              <a:t>90.0%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8486" y="4695825"/>
            <a:ext cx="178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Women 15–19 (Python):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63275" y="4691062"/>
            <a:ext cx="704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Space Grotesk"/>
              </a:rPr>
              <a:t>90.0%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8486" y="2419350"/>
            <a:ext cx="1390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Weighted Median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5625" y="2414587"/>
            <a:ext cx="952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Rs 15,200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8486" y="2676525"/>
            <a:ext cx="1571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Unweighted Median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06100" y="2671762"/>
            <a:ext cx="962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Rs 15,000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8486" y="2933700"/>
            <a:ext cx="1571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10th Percentile (P10)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2775" y="2928937"/>
            <a:ext cx="8953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Rs 2,000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8486" y="3190875"/>
            <a:ext cx="1643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90th Percentile (P90)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6575" y="3186112"/>
            <a:ext cx="9715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Rs 75,000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8486" y="3514725"/>
            <a:ext cx="1228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P90 / P10 Ratio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25175" y="3509962"/>
            <a:ext cx="7429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Space Grotesk"/>
              </a:rPr>
              <a:t>37.50x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